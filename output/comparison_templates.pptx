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Microsoft JhengHei"/>
              </a:rPr>
              <a:t>版型選擇指南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DD7EE"/>
                </a:solidFill>
                <a:latin typeface="Microsoft JhengHei"/>
              </a:rPr>
              <a:t>選擇最符合你報告情境的版型，複製投影片後填入實際數值與圖片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2103120" cy="49377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Microsoft JhengHei"/>
              </a:rPr>
              <a:t>T1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94560"/>
            <a:ext cx="210312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</a:rPr>
              <a:t>並排指標卡片式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880360"/>
            <a:ext cx="188366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DDDD"/>
                </a:solidFill>
                <a:latin typeface="Microsoft JhengHei"/>
              </a:rPr>
              <a:t>每個模型一欄，四項指標各一張卡片
適合：單廠區深入比較，加入樣本截圖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893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Microsoft JhengHei"/>
              </a:rPr>
              <a:t>第 2 頁 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1508760"/>
            <a:ext cx="2103120" cy="49377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16459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Microsoft JhengHei"/>
              </a:rPr>
              <a:t>T2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2194560"/>
            <a:ext cx="210312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2286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</a:rPr>
              <a:t>視覺化條形儀表板式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2928" y="2880360"/>
            <a:ext cx="188366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DDDD"/>
                </a:solidFill>
                <a:latin typeface="Microsoft JhengHei"/>
              </a:rPr>
              <a:t>橫向條形直觀呈現兩模型差距
適合：快速掃讀，一眼看出勝負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59893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Microsoft JhengHei"/>
              </a:rPr>
              <a:t>第 3 頁 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1508760"/>
            <a:ext cx="2103120" cy="4937760"/>
          </a:xfrm>
          <a:prstGeom prst="rect">
            <a:avLst/>
          </a:prstGeom>
          <a:solidFill>
            <a:srgbClr val="378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0" y="16459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Microsoft JhengHei"/>
              </a:rPr>
              <a:t>T3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2194560"/>
            <a:ext cx="210312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2286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</a:rPr>
              <a:t>多廠區對比表格式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0368" y="2880360"/>
            <a:ext cx="188366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DDDD"/>
                </a:solidFill>
                <a:latin typeface="Microsoft JhengHei"/>
              </a:rPr>
              <a:t>多廠區 × 多指標全覽表，含 Δ 差值欄
適合：跨廠泛化性彙整報告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9893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Microsoft JhengHei"/>
              </a:rPr>
              <a:t>第 4 頁 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79" y="1508760"/>
            <a:ext cx="2103120" cy="4937760"/>
          </a:xfrm>
          <a:prstGeom prst="rect">
            <a:avLst/>
          </a:prstGeom>
          <a:solidFill>
            <a:srgbClr val="703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19" y="16459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Microsoft JhengHei"/>
              </a:rPr>
              <a:t>T4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79" y="2194560"/>
            <a:ext cx="210312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19" y="2286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</a:rPr>
              <a:t>泛化衰退瀑布式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07807" y="2880360"/>
            <a:ext cx="188366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DDDD"/>
                </a:solidFill>
                <a:latin typeface="Microsoft JhengHei"/>
              </a:rPr>
              <a:t>訓練域 → 測試域的指標下降可視化
適合：說明為何泛化性是關鍵問題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19" y="59893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Microsoft JhengHei"/>
              </a:rPr>
              <a:t>第 5 頁 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75520" y="1508760"/>
            <a:ext cx="2103120" cy="4937760"/>
          </a:xfrm>
          <a:prstGeom prst="rect">
            <a:avLst/>
          </a:prstGeom>
          <a:solidFill>
            <a:srgbClr val="2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66960" y="16459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Microsoft JhengHei"/>
              </a:rPr>
              <a:t>T5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75520" y="2194560"/>
            <a:ext cx="210312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6960" y="2286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</a:rPr>
              <a:t>精簡執行摘要式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85248" y="2880360"/>
            <a:ext cx="188366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DDDD"/>
                </a:solidFill>
                <a:latin typeface="Microsoft JhengHei"/>
              </a:rPr>
              <a:t>最少元素，大數字 + 勝負判決
適合：管理層報告或一頁式結論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60" y="59893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Microsoft JhengHei"/>
              </a:rPr>
              <a:t>第 6 頁 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CE4D6"/>
                </a:solidFill>
                <a:latin typeface="Microsoft JhengHei"/>
              </a:rPr>
              <a:t>📌  橘色 [ –.–– ] = 待填入數值　　灰色方塊 = 待置入圖片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</a:rPr>
              <a:t>T1  並排指標卡片式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0"/>
                </a:solidFill>
                <a:latin typeface="Microsoft JhengHei"/>
              </a:rPr>
              <a:t>同工站、不同廠區 — GroundingDINO vs YOLO 指標比較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20256"/>
            <a:ext cx="11612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Microsoft JhengHei"/>
              </a:rPr>
              <a:t>📌 使用方式：將橘色 [ –.–– ] 替換為實際數值；灰色方塊替換為對應廠區的偵測截圖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960120"/>
            <a:ext cx="3200400" cy="329184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987552"/>
            <a:ext cx="3054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廠區：[ 填入廠區名稱 ]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39" y="960120"/>
            <a:ext cx="2560320" cy="32918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22191" y="987552"/>
            <a:ext cx="24140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工站：[ 填入工站代號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389888"/>
            <a:ext cx="5577840" cy="38404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1732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</a:rPr>
              <a:t>GroundingDINO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389888"/>
            <a:ext cx="5577840" cy="38404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1732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</a:rPr>
              <a:t>YOLO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874519"/>
            <a:ext cx="1371600" cy="10789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" y="1965959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Precision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" y="2313431"/>
            <a:ext cx="12252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FF"/>
                </a:solidFill>
                <a:latin typeface="Microsoft JhengHei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1737360" y="1874519"/>
            <a:ext cx="4114800" cy="1078992"/>
          </a:xfrm>
          <a:prstGeom prst="rect">
            <a:avLst/>
          </a:prstGeom>
          <a:solidFill>
            <a:srgbClr val="BDD7EE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0" y="2039111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D7D31"/>
                </a:solidFill>
                <a:latin typeface="Microsoft JhengHei"/>
              </a:rPr>
              <a:t>–.–––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2697479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95959"/>
                </a:solidFill>
                <a:latin typeface="Microsoft JhengHei"/>
              </a:rPr>
              <a:t>← 填入數值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874519"/>
            <a:ext cx="1371600" cy="10789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1965959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Precision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2" y="2313431"/>
            <a:ext cx="12252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FF"/>
                </a:solidFill>
                <a:latin typeface="Microsoft JhengHei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7680960" y="1874519"/>
            <a:ext cx="4114800" cy="1078992"/>
          </a:xfrm>
          <a:prstGeom prst="rect">
            <a:avLst/>
          </a:prstGeom>
          <a:solidFill>
            <a:srgbClr val="FCE4D6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0" y="2039111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D7D31"/>
                </a:solidFill>
                <a:latin typeface="Microsoft JhengHei"/>
              </a:rPr>
              <a:t>–.–––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2697479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95959"/>
                </a:solidFill>
                <a:latin typeface="Microsoft JhengHei"/>
              </a:rPr>
              <a:t>← 填入數值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1874519"/>
            <a:ext cx="18288" cy="107899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3044951"/>
            <a:ext cx="1371600" cy="10789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3192" y="3136391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Recall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" y="3483863"/>
            <a:ext cx="12252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FF"/>
                </a:solidFill>
                <a:latin typeface="Microsoft JhengHei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1737360" y="3044951"/>
            <a:ext cx="4114800" cy="1078992"/>
          </a:xfrm>
          <a:prstGeom prst="rect">
            <a:avLst/>
          </a:prstGeom>
          <a:solidFill>
            <a:srgbClr val="BDD7EE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0" y="3209543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D7D31"/>
                </a:solidFill>
                <a:latin typeface="Microsoft JhengHei"/>
              </a:rPr>
              <a:t>–.–––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3867911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95959"/>
                </a:solidFill>
                <a:latin typeface="Microsoft JhengHei"/>
              </a:rPr>
              <a:t>← 填入數值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3044951"/>
            <a:ext cx="1371600" cy="10789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36792" y="3136391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Recall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36792" y="3483863"/>
            <a:ext cx="12252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FF"/>
                </a:solidFill>
                <a:latin typeface="Microsoft JhengHei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7680960" y="3044951"/>
            <a:ext cx="4114800" cy="1078992"/>
          </a:xfrm>
          <a:prstGeom prst="rect">
            <a:avLst/>
          </a:prstGeom>
          <a:solidFill>
            <a:srgbClr val="FCE4D6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0" y="3209543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D7D31"/>
                </a:solidFill>
                <a:latin typeface="Microsoft JhengHei"/>
              </a:rPr>
              <a:t>–.–––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3867911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95959"/>
                </a:solidFill>
                <a:latin typeface="Microsoft JhengHei"/>
              </a:rPr>
              <a:t>← 填入數值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0" y="3044951"/>
            <a:ext cx="18288" cy="107899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4215383"/>
            <a:ext cx="1371600" cy="10789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3192" y="4306823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F1-Score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3192" y="4654295"/>
            <a:ext cx="12252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FF"/>
                </a:solidFill>
                <a:latin typeface="Microsoft JhengHei"/>
              </a:rPr>
              <a:t/>
            </a:r>
          </a:p>
        </p:txBody>
      </p:sp>
      <p:sp>
        <p:nvSpPr>
          <p:cNvPr id="44" name="Rectangle 43"/>
          <p:cNvSpPr/>
          <p:nvPr/>
        </p:nvSpPr>
        <p:spPr>
          <a:xfrm>
            <a:off x="1737360" y="4215383"/>
            <a:ext cx="4114800" cy="1078992"/>
          </a:xfrm>
          <a:prstGeom prst="rect">
            <a:avLst/>
          </a:prstGeom>
          <a:solidFill>
            <a:srgbClr val="BDD7EE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828800" y="4379975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D7D31"/>
                </a:solidFill>
                <a:latin typeface="Microsoft JhengHei"/>
              </a:rPr>
              <a:t>–.–––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5038343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95959"/>
                </a:solidFill>
                <a:latin typeface="Microsoft JhengHei"/>
              </a:rPr>
              <a:t>← 填入數值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63640" y="4215383"/>
            <a:ext cx="1371600" cy="10789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36792" y="4306823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F1-Score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36792" y="4654295"/>
            <a:ext cx="12252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FF"/>
                </a:solidFill>
                <a:latin typeface="Microsoft JhengHei"/>
              </a:rPr>
              <a:t/>
            </a:r>
          </a:p>
        </p:txBody>
      </p:sp>
      <p:sp>
        <p:nvSpPr>
          <p:cNvPr id="50" name="Rectangle 49"/>
          <p:cNvSpPr/>
          <p:nvPr/>
        </p:nvSpPr>
        <p:spPr>
          <a:xfrm>
            <a:off x="7680960" y="4215383"/>
            <a:ext cx="4114800" cy="1078992"/>
          </a:xfrm>
          <a:prstGeom prst="rect">
            <a:avLst/>
          </a:prstGeom>
          <a:solidFill>
            <a:srgbClr val="FCE4D6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2400" y="4379975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D7D31"/>
                </a:solidFill>
                <a:latin typeface="Microsoft JhengHei"/>
              </a:rPr>
              <a:t>–.–––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0" y="5038343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95959"/>
                </a:solidFill>
                <a:latin typeface="Microsoft JhengHei"/>
              </a:rPr>
              <a:t>← 填入數值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43600" y="4215383"/>
            <a:ext cx="18288" cy="107899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0040" y="5385815"/>
            <a:ext cx="1371600" cy="10789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93192" y="5477255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mAP@0.5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3192" y="5824727"/>
            <a:ext cx="12252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FF"/>
                </a:solidFill>
                <a:latin typeface="Microsoft JhengHei"/>
              </a:rPr>
              <a:t>(IoU=0.5)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737360" y="5385815"/>
            <a:ext cx="4114800" cy="1078992"/>
          </a:xfrm>
          <a:prstGeom prst="rect">
            <a:avLst/>
          </a:prstGeom>
          <a:solidFill>
            <a:srgbClr val="BDD7EE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828800" y="5550407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D7D31"/>
                </a:solidFill>
                <a:latin typeface="Microsoft JhengHei"/>
              </a:rPr>
              <a:t>–.–––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828800" y="6208775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95959"/>
                </a:solidFill>
                <a:latin typeface="Microsoft JhengHei"/>
              </a:rPr>
              <a:t>← 填入數值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63640" y="5385815"/>
            <a:ext cx="1371600" cy="10789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36792" y="5477255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mAP@0.5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36792" y="5824727"/>
            <a:ext cx="12252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FF"/>
                </a:solidFill>
                <a:latin typeface="Microsoft JhengHei"/>
              </a:rPr>
              <a:t>(IoU=0.5)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680960" y="5385815"/>
            <a:ext cx="4114800" cy="1078992"/>
          </a:xfrm>
          <a:prstGeom prst="rect">
            <a:avLst/>
          </a:prstGeom>
          <a:solidFill>
            <a:srgbClr val="FCE4D6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772400" y="5550407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D7D31"/>
                </a:solidFill>
                <a:latin typeface="Microsoft JhengHei"/>
              </a:rPr>
              <a:t>–.–––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72400" y="6208775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95959"/>
                </a:solidFill>
                <a:latin typeface="Microsoft JhengHei"/>
              </a:rPr>
              <a:t>← 填入數值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943600" y="5385815"/>
            <a:ext cx="18288" cy="107899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20040" y="5806440"/>
            <a:ext cx="5577840" cy="713232"/>
          </a:xfrm>
          <a:prstGeom prst="rect">
            <a:avLst/>
          </a:prstGeom>
          <a:solidFill>
            <a:srgbClr val="D6DCE4"/>
          </a:solidFill>
          <a:ln w="19050">
            <a:solidFill>
              <a:srgbClr val="70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11480" y="5888736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708096"/>
                </a:solidFill>
                <a:latin typeface="Microsoft JhengHei"/>
              </a:rPr>
              <a:t>📷  GroundingDINO 偵測截圖
（廠區X 樣本圖）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63640" y="5806440"/>
            <a:ext cx="5577840" cy="713232"/>
          </a:xfrm>
          <a:prstGeom prst="rect">
            <a:avLst/>
          </a:prstGeom>
          <a:solidFill>
            <a:srgbClr val="D6DCE4"/>
          </a:solidFill>
          <a:ln w="19050">
            <a:solidFill>
              <a:srgbClr val="70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55080" y="5888736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708096"/>
                </a:solidFill>
                <a:latin typeface="Microsoft JhengHei"/>
              </a:rPr>
              <a:t>📷  YOLO 偵測截圖
（廠區X 相同樣本）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</a:rPr>
              <a:t>T2  視覺化條形儀表板式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0"/>
                </a:solidFill>
                <a:latin typeface="Microsoft JhengHei"/>
              </a:rPr>
              <a:t>同工站、不同廠區 — 條形長度直觀呈現兩模型指標差距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20256"/>
            <a:ext cx="11612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Microsoft JhengHei"/>
              </a:rPr>
              <a:t>📌 橘色 –.–– = 填入實際數值；深色條長度 = 依實際值等比例調整；灰色方塊 = 置入截圖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960120"/>
            <a:ext cx="2468880" cy="32918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97840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[ 廠區 A ] ← 填廠區名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7101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D7D31"/>
                </a:solidFill>
                <a:latin typeface="Microsoft JhengHei"/>
              </a:rPr>
              <a:t>訓練域（GL廠）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63240" y="960120"/>
            <a:ext cx="2468880" cy="32918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80" y="97840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Microsoft JhengHei"/>
              </a:rPr>
              <a:t>[ 廠區 B ] ← 填廠區名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06440" y="960120"/>
            <a:ext cx="2468880" cy="32918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97880" y="97840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Microsoft JhengHei"/>
              </a:rPr>
              <a:t>[ 廠區 C ] ← 填廠區名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49640" y="960120"/>
            <a:ext cx="2468880" cy="32918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97840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Microsoft JhengHei"/>
              </a:rPr>
              <a:t>[ 廠區 D ] ← 填廠區名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536192"/>
            <a:ext cx="201168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153619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  <a:latin typeface="Microsoft JhengHei"/>
              </a:rPr>
              <a:t>GroundingDINO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1536192"/>
            <a:ext cx="201168" cy="2011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72968" y="153619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D7D31"/>
                </a:solidFill>
                <a:latin typeface="Microsoft JhengHei"/>
              </a:rPr>
              <a:t>YOLO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536192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Microsoft JhengHei"/>
              </a:rPr>
              <a:t>（條形長度代表指標分數，請按實際數值調整）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1828800"/>
            <a:ext cx="1097280" cy="76809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048256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4E79"/>
                </a:solidFill>
                <a:latin typeface="Microsoft JhengHei"/>
              </a:rPr>
              <a:t>Precision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63040" y="1828800"/>
            <a:ext cx="914400" cy="329184"/>
          </a:xfrm>
          <a:prstGeom prst="rect">
            <a:avLst/>
          </a:prstGeom>
          <a:solidFill>
            <a:srgbClr val="BDD7EE"/>
          </a:solidFill>
          <a:ln w="1016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08760" y="186537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D7D31"/>
                </a:solidFill>
                <a:latin typeface="Microsoft JhengHei"/>
              </a:rPr>
              <a:t>–.–––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68880" y="1865376"/>
            <a:ext cx="4572000" cy="256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468880" y="1865376"/>
            <a:ext cx="2743200" cy="2560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0" y="190195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95959"/>
                </a:solidFill>
                <a:latin typeface="Microsoft JhengHei"/>
              </a:rPr>
              <a:t>← 條形寬度請按數值等比例調整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63040" y="2212848"/>
            <a:ext cx="914400" cy="329184"/>
          </a:xfrm>
          <a:prstGeom prst="rect">
            <a:avLst/>
          </a:prstGeom>
          <a:solidFill>
            <a:srgbClr val="FCE4D6"/>
          </a:solidFill>
          <a:ln w="1016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08760" y="224942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D7D31"/>
                </a:solidFill>
                <a:latin typeface="Microsoft JhengHei"/>
              </a:rPr>
              <a:t>–.–––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68880" y="2249424"/>
            <a:ext cx="4572000" cy="256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468880" y="2249424"/>
            <a:ext cx="2743200" cy="25603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0" y="22860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95959"/>
                </a:solidFill>
                <a:latin typeface="Microsoft JhengHei"/>
              </a:rPr>
              <a:t>← 條形寬度請按數值等比例調整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2688336"/>
            <a:ext cx="1097280" cy="76809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07792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4E79"/>
                </a:solidFill>
                <a:latin typeface="Microsoft JhengHei"/>
              </a:rPr>
              <a:t>Recall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63040" y="2688336"/>
            <a:ext cx="914400" cy="329184"/>
          </a:xfrm>
          <a:prstGeom prst="rect">
            <a:avLst/>
          </a:prstGeom>
          <a:solidFill>
            <a:srgbClr val="BDD7EE"/>
          </a:solidFill>
          <a:ln w="1016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508760" y="272491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D7D31"/>
                </a:solidFill>
                <a:latin typeface="Microsoft JhengHei"/>
              </a:rPr>
              <a:t>–.–––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68880" y="2724912"/>
            <a:ext cx="4572000" cy="256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68880" y="2724912"/>
            <a:ext cx="2743200" cy="2560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0" y="276148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95959"/>
                </a:solidFill>
                <a:latin typeface="Microsoft JhengHei"/>
              </a:rPr>
              <a:t>← 條形寬度請按數值等比例調整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463040" y="3072384"/>
            <a:ext cx="914400" cy="329184"/>
          </a:xfrm>
          <a:prstGeom prst="rect">
            <a:avLst/>
          </a:prstGeom>
          <a:solidFill>
            <a:srgbClr val="FCE4D6"/>
          </a:solidFill>
          <a:ln w="1016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08760" y="31089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D7D31"/>
                </a:solidFill>
                <a:latin typeface="Microsoft JhengHei"/>
              </a:rPr>
              <a:t>–.–––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468880" y="3108960"/>
            <a:ext cx="4572000" cy="256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468880" y="3108960"/>
            <a:ext cx="2743200" cy="25603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03520" y="3145536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95959"/>
                </a:solidFill>
                <a:latin typeface="Microsoft JhengHei"/>
              </a:rPr>
              <a:t>← 條形寬度請按數值等比例調整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3547872"/>
            <a:ext cx="1097280" cy="76809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3767328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4E79"/>
                </a:solidFill>
                <a:latin typeface="Microsoft JhengHei"/>
              </a:rPr>
              <a:t>F1-Score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463040" y="3547872"/>
            <a:ext cx="914400" cy="329184"/>
          </a:xfrm>
          <a:prstGeom prst="rect">
            <a:avLst/>
          </a:prstGeom>
          <a:solidFill>
            <a:srgbClr val="BDD7EE"/>
          </a:solidFill>
          <a:ln w="1016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508760" y="358444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D7D31"/>
                </a:solidFill>
                <a:latin typeface="Microsoft JhengHei"/>
              </a:rPr>
              <a:t>–.–––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68880" y="3584448"/>
            <a:ext cx="4572000" cy="256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468880" y="3584448"/>
            <a:ext cx="2743200" cy="2560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03520" y="3621024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95959"/>
                </a:solidFill>
                <a:latin typeface="Microsoft JhengHei"/>
              </a:rPr>
              <a:t>← 條形寬度請按數值等比例調整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463040" y="3931920"/>
            <a:ext cx="914400" cy="329184"/>
          </a:xfrm>
          <a:prstGeom prst="rect">
            <a:avLst/>
          </a:prstGeom>
          <a:solidFill>
            <a:srgbClr val="FCE4D6"/>
          </a:solidFill>
          <a:ln w="1016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508760" y="396849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D7D31"/>
                </a:solidFill>
                <a:latin typeface="Microsoft JhengHei"/>
              </a:rPr>
              <a:t>–.–––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468880" y="3968496"/>
            <a:ext cx="4572000" cy="256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468880" y="3968496"/>
            <a:ext cx="2743200" cy="25603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03520" y="400507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95959"/>
                </a:solidFill>
                <a:latin typeface="Microsoft JhengHei"/>
              </a:rPr>
              <a:t>← 條形寬度請按數值等比例調整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0040" y="4407408"/>
            <a:ext cx="1097280" cy="76809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5760" y="4626864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4E79"/>
                </a:solidFill>
                <a:latin typeface="Microsoft JhengHei"/>
              </a:rPr>
              <a:t>mAP@0.5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463040" y="4407408"/>
            <a:ext cx="914400" cy="329184"/>
          </a:xfrm>
          <a:prstGeom prst="rect">
            <a:avLst/>
          </a:prstGeom>
          <a:solidFill>
            <a:srgbClr val="BDD7EE"/>
          </a:solidFill>
          <a:ln w="1016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508760" y="444398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D7D31"/>
                </a:solidFill>
                <a:latin typeface="Microsoft JhengHei"/>
              </a:rPr>
              <a:t>–.–––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468880" y="4443984"/>
            <a:ext cx="4572000" cy="256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468880" y="4443984"/>
            <a:ext cx="2743200" cy="2560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303520" y="44805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95959"/>
                </a:solidFill>
                <a:latin typeface="Microsoft JhengHei"/>
              </a:rPr>
              <a:t>← 條形寬度請按數值等比例調整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463040" y="4791456"/>
            <a:ext cx="914400" cy="329184"/>
          </a:xfrm>
          <a:prstGeom prst="rect">
            <a:avLst/>
          </a:prstGeom>
          <a:solidFill>
            <a:srgbClr val="FCE4D6"/>
          </a:solidFill>
          <a:ln w="1016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508760" y="482803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D7D31"/>
                </a:solidFill>
                <a:latin typeface="Microsoft JhengHei"/>
              </a:rPr>
              <a:t>–.–––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468880" y="4828032"/>
            <a:ext cx="4572000" cy="256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468880" y="4828032"/>
            <a:ext cx="2743200" cy="25603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303520" y="486460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95959"/>
                </a:solidFill>
                <a:latin typeface="Microsoft JhengHei"/>
              </a:rPr>
              <a:t>← 條形寬度請按數值等比例調整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0040" y="5742432"/>
            <a:ext cx="2743200" cy="804672"/>
          </a:xfrm>
          <a:prstGeom prst="rect">
            <a:avLst/>
          </a:prstGeom>
          <a:solidFill>
            <a:srgbClr val="D6DCE4"/>
          </a:solidFill>
          <a:ln w="19050">
            <a:solidFill>
              <a:srgbClr val="70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1480" y="587044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708096"/>
                </a:solidFill>
                <a:latin typeface="Microsoft JhengHei"/>
              </a:rPr>
              <a:t>📷 廠區A GT vs GDINO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46120" y="5742432"/>
            <a:ext cx="2743200" cy="804672"/>
          </a:xfrm>
          <a:prstGeom prst="rect">
            <a:avLst/>
          </a:prstGeom>
          <a:solidFill>
            <a:srgbClr val="D6DCE4"/>
          </a:solidFill>
          <a:ln w="19050">
            <a:solidFill>
              <a:srgbClr val="70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337560" y="587044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708096"/>
                </a:solidFill>
                <a:latin typeface="Microsoft JhengHei"/>
              </a:rPr>
              <a:t>📷 廠區A GT vs YOLO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172200" y="5742432"/>
            <a:ext cx="2743200" cy="804672"/>
          </a:xfrm>
          <a:prstGeom prst="rect">
            <a:avLst/>
          </a:prstGeom>
          <a:solidFill>
            <a:srgbClr val="D6DCE4"/>
          </a:solidFill>
          <a:ln w="19050">
            <a:solidFill>
              <a:srgbClr val="70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63640" y="587044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708096"/>
                </a:solidFill>
                <a:latin typeface="Microsoft JhengHei"/>
              </a:rPr>
              <a:t>📷 廠區B 偵測截圖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098280" y="5742432"/>
            <a:ext cx="2743200" cy="804672"/>
          </a:xfrm>
          <a:prstGeom prst="rect">
            <a:avLst/>
          </a:prstGeom>
          <a:solidFill>
            <a:srgbClr val="D6DCE4"/>
          </a:solidFill>
          <a:ln w="19050">
            <a:solidFill>
              <a:srgbClr val="70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189720" y="587044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708096"/>
                </a:solidFill>
                <a:latin typeface="Microsoft JhengHei"/>
              </a:rPr>
              <a:t>📷 廠區C 偵測截圖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</a:rPr>
              <a:t>T3  多廠區對比表格式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0"/>
                </a:solidFill>
                <a:latin typeface="Microsoft JhengHei"/>
              </a:rPr>
              <a:t>跨廠區同工站泛化性指標總覽 — 含兩模型 Δ 差值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20256"/>
            <a:ext cx="11612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Microsoft JhengHei"/>
              </a:rPr>
              <a:t>📌 橘色儲存格 = 填入實際數值；Δ 欄 = GroundingDINO 分數 − YOLO 分數（正值=GDINO較好）；灰色方塊 = 置入截圖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69264"/>
            <a:ext cx="1463040" cy="950976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11910"/>
            <a:ext cx="1463040" cy="665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廠區 / 工站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969264"/>
            <a:ext cx="2633472" cy="4754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1042416"/>
            <a:ext cx="2633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</a:rPr>
              <a:t>GroundingDINO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0832" y="969264"/>
            <a:ext cx="2633472" cy="47548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0832" y="1042416"/>
            <a:ext cx="2633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</a:rPr>
              <a:t>YOLO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04304" y="969264"/>
            <a:ext cx="658368" cy="950976"/>
          </a:xfrm>
          <a:prstGeom prst="rect">
            <a:avLst/>
          </a:prstGeom>
          <a:solidFill>
            <a:srgbClr val="403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04304" y="1024128"/>
            <a:ext cx="658368" cy="879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CE4D6"/>
                </a:solidFill>
                <a:latin typeface="Microsoft JhengHei"/>
              </a:rPr>
              <a:t>Δ
mAP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37360" y="1444752"/>
            <a:ext cx="658368" cy="475488"/>
          </a:xfrm>
          <a:prstGeom prst="rect">
            <a:avLst/>
          </a:prstGeom>
          <a:solidFill>
            <a:srgbClr val="15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37360" y="1536192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95728" y="1444752"/>
            <a:ext cx="658368" cy="475488"/>
          </a:xfrm>
          <a:prstGeom prst="rect">
            <a:avLst/>
          </a:prstGeom>
          <a:solidFill>
            <a:srgbClr val="15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95728" y="1536192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54096" y="1444752"/>
            <a:ext cx="658368" cy="475488"/>
          </a:xfrm>
          <a:prstGeom prst="rect">
            <a:avLst/>
          </a:prstGeom>
          <a:solidFill>
            <a:srgbClr val="15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54096" y="1536192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F1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12464" y="1444752"/>
            <a:ext cx="658368" cy="475488"/>
          </a:xfrm>
          <a:prstGeom prst="rect">
            <a:avLst/>
          </a:prstGeom>
          <a:solidFill>
            <a:srgbClr val="15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12464" y="1536192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mAP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70832" y="1444752"/>
            <a:ext cx="658368" cy="475488"/>
          </a:xfrm>
          <a:prstGeom prst="rect">
            <a:avLst/>
          </a:prstGeom>
          <a:solidFill>
            <a:srgbClr val="B05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70832" y="1536192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1444752"/>
            <a:ext cx="658368" cy="475488"/>
          </a:xfrm>
          <a:prstGeom prst="rect">
            <a:avLst/>
          </a:prstGeom>
          <a:solidFill>
            <a:srgbClr val="B05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1536192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87568" y="1444752"/>
            <a:ext cx="658368" cy="475488"/>
          </a:xfrm>
          <a:prstGeom prst="rect">
            <a:avLst/>
          </a:prstGeom>
          <a:solidFill>
            <a:srgbClr val="B05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87568" y="1536192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F1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45936" y="1444752"/>
            <a:ext cx="658368" cy="475488"/>
          </a:xfrm>
          <a:prstGeom prst="rect">
            <a:avLst/>
          </a:prstGeom>
          <a:solidFill>
            <a:srgbClr val="B05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45936" y="1536192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mAP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1920240"/>
            <a:ext cx="1463040" cy="47548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9184" y="2011680"/>
            <a:ext cx="1389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  <a:latin typeface="Microsoft JhengHei"/>
              </a:rPr>
              <a:t>GL 廠（訓練域）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737360" y="1920240"/>
            <a:ext cx="658368" cy="475488"/>
          </a:xfrm>
          <a:prstGeom prst="rect">
            <a:avLst/>
          </a:prstGeom>
          <a:solidFill>
            <a:srgbClr val="BDD7EE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37360" y="2011680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95959"/>
                </a:solidFill>
                <a:latin typeface="Microsoft JhengHei"/>
              </a:rPr>
              <a:t>–.––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95728" y="1920240"/>
            <a:ext cx="658368" cy="475488"/>
          </a:xfrm>
          <a:prstGeom prst="rect">
            <a:avLst/>
          </a:prstGeom>
          <a:solidFill>
            <a:srgbClr val="BDD7EE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95728" y="2011680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95959"/>
                </a:solidFill>
                <a:latin typeface="Microsoft JhengHei"/>
              </a:rPr>
              <a:t>–.––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54096" y="1920240"/>
            <a:ext cx="658368" cy="475488"/>
          </a:xfrm>
          <a:prstGeom prst="rect">
            <a:avLst/>
          </a:prstGeom>
          <a:solidFill>
            <a:srgbClr val="BDD7EE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54096" y="2011680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95959"/>
                </a:solidFill>
                <a:latin typeface="Microsoft JhengHei"/>
              </a:rPr>
              <a:t>–.––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12464" y="1920240"/>
            <a:ext cx="658368" cy="475488"/>
          </a:xfrm>
          <a:prstGeom prst="rect">
            <a:avLst/>
          </a:prstGeom>
          <a:solidFill>
            <a:srgbClr val="BDD7EE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12464" y="2011680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95959"/>
                </a:solidFill>
                <a:latin typeface="Microsoft JhengHei"/>
              </a:rPr>
              <a:t>–.––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70832" y="1920240"/>
            <a:ext cx="658368" cy="475488"/>
          </a:xfrm>
          <a:prstGeom prst="rect">
            <a:avLst/>
          </a:prstGeom>
          <a:solidFill>
            <a:srgbClr val="BDD7EE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70832" y="2011680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95959"/>
                </a:solidFill>
                <a:latin typeface="Microsoft JhengHei"/>
              </a:rPr>
              <a:t>–.––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0" y="1920240"/>
            <a:ext cx="658368" cy="475488"/>
          </a:xfrm>
          <a:prstGeom prst="rect">
            <a:avLst/>
          </a:prstGeom>
          <a:solidFill>
            <a:srgbClr val="BDD7EE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0" y="2011680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95959"/>
                </a:solidFill>
                <a:latin typeface="Microsoft JhengHei"/>
              </a:rPr>
              <a:t>–.––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87568" y="1920240"/>
            <a:ext cx="658368" cy="475488"/>
          </a:xfrm>
          <a:prstGeom prst="rect">
            <a:avLst/>
          </a:prstGeom>
          <a:solidFill>
            <a:srgbClr val="BDD7EE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87568" y="2011680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95959"/>
                </a:solidFill>
                <a:latin typeface="Microsoft JhengHei"/>
              </a:rPr>
              <a:t>–.––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45936" y="1920240"/>
            <a:ext cx="658368" cy="475488"/>
          </a:xfrm>
          <a:prstGeom prst="rect">
            <a:avLst/>
          </a:prstGeom>
          <a:solidFill>
            <a:srgbClr val="BDD7EE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45936" y="2011680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95959"/>
                </a:solidFill>
                <a:latin typeface="Microsoft JhengHei"/>
              </a:rPr>
              <a:t>–.––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004304" y="1920240"/>
            <a:ext cx="658368" cy="475488"/>
          </a:xfrm>
          <a:prstGeom prst="rect">
            <a:avLst/>
          </a:prstGeom>
          <a:solidFill>
            <a:srgbClr val="F2F2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04304" y="2011680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95959"/>
                </a:solidFill>
                <a:latin typeface="Microsoft JhengHei"/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2395728"/>
            <a:ext cx="14630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9184" y="2487168"/>
            <a:ext cx="1389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Microsoft JhengHei"/>
              </a:rPr>
              <a:t>廠區 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737360" y="2395728"/>
            <a:ext cx="658368" cy="475488"/>
          </a:xfrm>
          <a:prstGeom prst="rect">
            <a:avLst/>
          </a:prstGeom>
          <a:solidFill>
            <a:srgbClr val="BDD7EE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737360" y="2487168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D7D31"/>
                </a:solidFill>
                <a:latin typeface="Microsoft JhengHei"/>
              </a:rPr>
              <a:t>–.––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395728" y="2395728"/>
            <a:ext cx="658368" cy="475488"/>
          </a:xfrm>
          <a:prstGeom prst="rect">
            <a:avLst/>
          </a:prstGeom>
          <a:solidFill>
            <a:srgbClr val="BDD7EE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395728" y="2487168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D7D31"/>
                </a:solidFill>
                <a:latin typeface="Microsoft JhengHei"/>
              </a:rPr>
              <a:t>–.––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054096" y="2395728"/>
            <a:ext cx="658368" cy="475488"/>
          </a:xfrm>
          <a:prstGeom prst="rect">
            <a:avLst/>
          </a:prstGeom>
          <a:solidFill>
            <a:srgbClr val="BDD7EE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054096" y="2487168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D7D31"/>
                </a:solidFill>
                <a:latin typeface="Microsoft JhengHei"/>
              </a:rPr>
              <a:t>–.––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712464" y="2395728"/>
            <a:ext cx="658368" cy="475488"/>
          </a:xfrm>
          <a:prstGeom prst="rect">
            <a:avLst/>
          </a:prstGeom>
          <a:solidFill>
            <a:srgbClr val="BDD7EE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712464" y="2487168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D7D31"/>
                </a:solidFill>
                <a:latin typeface="Microsoft JhengHei"/>
              </a:rPr>
              <a:t>–.––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70832" y="2395728"/>
            <a:ext cx="658368" cy="475488"/>
          </a:xfrm>
          <a:prstGeom prst="rect">
            <a:avLst/>
          </a:prstGeom>
          <a:solidFill>
            <a:srgbClr val="FCE4D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70832" y="2487168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D7D31"/>
                </a:solidFill>
                <a:latin typeface="Microsoft JhengHei"/>
              </a:rPr>
              <a:t>–.––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9200" y="2395728"/>
            <a:ext cx="658368" cy="475488"/>
          </a:xfrm>
          <a:prstGeom prst="rect">
            <a:avLst/>
          </a:prstGeom>
          <a:solidFill>
            <a:srgbClr val="FCE4D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9200" y="2487168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D7D31"/>
                </a:solidFill>
                <a:latin typeface="Microsoft JhengHei"/>
              </a:rPr>
              <a:t>–.––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687568" y="2395728"/>
            <a:ext cx="658368" cy="475488"/>
          </a:xfrm>
          <a:prstGeom prst="rect">
            <a:avLst/>
          </a:prstGeom>
          <a:solidFill>
            <a:srgbClr val="FCE4D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687568" y="2487168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D7D31"/>
                </a:solidFill>
                <a:latin typeface="Microsoft JhengHei"/>
              </a:rPr>
              <a:t>–.––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345936" y="2395728"/>
            <a:ext cx="658368" cy="475488"/>
          </a:xfrm>
          <a:prstGeom prst="rect">
            <a:avLst/>
          </a:prstGeom>
          <a:solidFill>
            <a:srgbClr val="FCE4D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45936" y="2487168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D7D31"/>
                </a:solidFill>
                <a:latin typeface="Microsoft JhengHei"/>
              </a:rPr>
              <a:t>–.––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004304" y="2395728"/>
            <a:ext cx="658368" cy="475488"/>
          </a:xfrm>
          <a:prstGeom prst="rect">
            <a:avLst/>
          </a:prstGeom>
          <a:solidFill>
            <a:srgbClr val="FFF5C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004304" y="2487168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06000"/>
                </a:solidFill>
                <a:latin typeface="Microsoft JhengHei"/>
              </a:rPr>
              <a:t>±.––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2871216"/>
            <a:ext cx="1463040" cy="4754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29184" y="2962656"/>
            <a:ext cx="1389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Microsoft JhengHei"/>
              </a:rPr>
              <a:t>廠區 B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737360" y="2871216"/>
            <a:ext cx="658368" cy="475488"/>
          </a:xfrm>
          <a:prstGeom prst="rect">
            <a:avLst/>
          </a:prstGeom>
          <a:solidFill>
            <a:srgbClr val="BDD7EE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737360" y="2962656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D7D31"/>
                </a:solidFill>
                <a:latin typeface="Microsoft JhengHei"/>
              </a:rPr>
              <a:t>–.––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395728" y="2871216"/>
            <a:ext cx="658368" cy="475488"/>
          </a:xfrm>
          <a:prstGeom prst="rect">
            <a:avLst/>
          </a:prstGeom>
          <a:solidFill>
            <a:srgbClr val="BDD7EE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395728" y="2962656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D7D31"/>
                </a:solidFill>
                <a:latin typeface="Microsoft JhengHei"/>
              </a:rPr>
              <a:t>–.––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054096" y="2871216"/>
            <a:ext cx="658368" cy="475488"/>
          </a:xfrm>
          <a:prstGeom prst="rect">
            <a:avLst/>
          </a:prstGeom>
          <a:solidFill>
            <a:srgbClr val="BDD7EE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054096" y="2962656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D7D31"/>
                </a:solidFill>
                <a:latin typeface="Microsoft JhengHei"/>
              </a:rPr>
              <a:t>–.––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712464" y="2871216"/>
            <a:ext cx="658368" cy="475488"/>
          </a:xfrm>
          <a:prstGeom prst="rect">
            <a:avLst/>
          </a:prstGeom>
          <a:solidFill>
            <a:srgbClr val="BDD7EE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712464" y="2962656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D7D31"/>
                </a:solidFill>
                <a:latin typeface="Microsoft JhengHei"/>
              </a:rPr>
              <a:t>–.––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370832" y="2871216"/>
            <a:ext cx="658368" cy="475488"/>
          </a:xfrm>
          <a:prstGeom prst="rect">
            <a:avLst/>
          </a:prstGeom>
          <a:solidFill>
            <a:srgbClr val="FCE4D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370832" y="2962656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D7D31"/>
                </a:solidFill>
                <a:latin typeface="Microsoft JhengHei"/>
              </a:rPr>
              <a:t>–.––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029200" y="2871216"/>
            <a:ext cx="658368" cy="475488"/>
          </a:xfrm>
          <a:prstGeom prst="rect">
            <a:avLst/>
          </a:prstGeom>
          <a:solidFill>
            <a:srgbClr val="FCE4D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029200" y="2962656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D7D31"/>
                </a:solidFill>
                <a:latin typeface="Microsoft JhengHei"/>
              </a:rPr>
              <a:t>–.––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687568" y="2871216"/>
            <a:ext cx="658368" cy="475488"/>
          </a:xfrm>
          <a:prstGeom prst="rect">
            <a:avLst/>
          </a:prstGeom>
          <a:solidFill>
            <a:srgbClr val="FCE4D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687568" y="2962656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D7D31"/>
                </a:solidFill>
                <a:latin typeface="Microsoft JhengHei"/>
              </a:rPr>
              <a:t>–.––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345936" y="2871216"/>
            <a:ext cx="658368" cy="475488"/>
          </a:xfrm>
          <a:prstGeom prst="rect">
            <a:avLst/>
          </a:prstGeom>
          <a:solidFill>
            <a:srgbClr val="FCE4D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345936" y="2962656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D7D31"/>
                </a:solidFill>
                <a:latin typeface="Microsoft JhengHei"/>
              </a:rPr>
              <a:t>–.––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004304" y="2871216"/>
            <a:ext cx="658368" cy="475488"/>
          </a:xfrm>
          <a:prstGeom prst="rect">
            <a:avLst/>
          </a:prstGeom>
          <a:solidFill>
            <a:srgbClr val="FFF5C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004304" y="2962656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06000"/>
                </a:solidFill>
                <a:latin typeface="Microsoft JhengHei"/>
              </a:rPr>
              <a:t>±.––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74320" y="3346704"/>
            <a:ext cx="14630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29184" y="3438144"/>
            <a:ext cx="1389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Microsoft JhengHei"/>
              </a:rPr>
              <a:t>廠區 C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737360" y="3346704"/>
            <a:ext cx="658368" cy="475488"/>
          </a:xfrm>
          <a:prstGeom prst="rect">
            <a:avLst/>
          </a:prstGeom>
          <a:solidFill>
            <a:srgbClr val="BDD7EE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737360" y="3438144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D7D31"/>
                </a:solidFill>
                <a:latin typeface="Microsoft JhengHei"/>
              </a:rPr>
              <a:t>–.––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395728" y="3346704"/>
            <a:ext cx="658368" cy="475488"/>
          </a:xfrm>
          <a:prstGeom prst="rect">
            <a:avLst/>
          </a:prstGeom>
          <a:solidFill>
            <a:srgbClr val="BDD7EE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395728" y="3438144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D7D31"/>
                </a:solidFill>
                <a:latin typeface="Microsoft JhengHei"/>
              </a:rPr>
              <a:t>–.––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054096" y="3346704"/>
            <a:ext cx="658368" cy="475488"/>
          </a:xfrm>
          <a:prstGeom prst="rect">
            <a:avLst/>
          </a:prstGeom>
          <a:solidFill>
            <a:srgbClr val="BDD7EE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054096" y="3438144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D7D31"/>
                </a:solidFill>
                <a:latin typeface="Microsoft JhengHei"/>
              </a:rPr>
              <a:t>–.––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712464" y="3346704"/>
            <a:ext cx="658368" cy="475488"/>
          </a:xfrm>
          <a:prstGeom prst="rect">
            <a:avLst/>
          </a:prstGeom>
          <a:solidFill>
            <a:srgbClr val="BDD7EE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712464" y="3438144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D7D31"/>
                </a:solidFill>
                <a:latin typeface="Microsoft JhengHei"/>
              </a:rPr>
              <a:t>–.––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370832" y="3346704"/>
            <a:ext cx="658368" cy="475488"/>
          </a:xfrm>
          <a:prstGeom prst="rect">
            <a:avLst/>
          </a:prstGeom>
          <a:solidFill>
            <a:srgbClr val="FCE4D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370832" y="3438144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D7D31"/>
                </a:solidFill>
                <a:latin typeface="Microsoft JhengHei"/>
              </a:rPr>
              <a:t>–.––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029200" y="3346704"/>
            <a:ext cx="658368" cy="475488"/>
          </a:xfrm>
          <a:prstGeom prst="rect">
            <a:avLst/>
          </a:prstGeom>
          <a:solidFill>
            <a:srgbClr val="FCE4D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0" y="3438144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D7D31"/>
                </a:solidFill>
                <a:latin typeface="Microsoft JhengHei"/>
              </a:rPr>
              <a:t>–.––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687568" y="3346704"/>
            <a:ext cx="658368" cy="475488"/>
          </a:xfrm>
          <a:prstGeom prst="rect">
            <a:avLst/>
          </a:prstGeom>
          <a:solidFill>
            <a:srgbClr val="FCE4D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687568" y="3438144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D7D31"/>
                </a:solidFill>
                <a:latin typeface="Microsoft JhengHei"/>
              </a:rPr>
              <a:t>–.––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345936" y="3346704"/>
            <a:ext cx="658368" cy="475488"/>
          </a:xfrm>
          <a:prstGeom prst="rect">
            <a:avLst/>
          </a:prstGeom>
          <a:solidFill>
            <a:srgbClr val="FCE4D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345936" y="3438144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D7D31"/>
                </a:solidFill>
                <a:latin typeface="Microsoft JhengHei"/>
              </a:rPr>
              <a:t>–.––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004304" y="3346704"/>
            <a:ext cx="658368" cy="475488"/>
          </a:xfrm>
          <a:prstGeom prst="rect">
            <a:avLst/>
          </a:prstGeom>
          <a:solidFill>
            <a:srgbClr val="FFF5C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004304" y="3438144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06000"/>
                </a:solidFill>
                <a:latin typeface="Microsoft JhengHei"/>
              </a:rPr>
              <a:t>±.––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74320" y="3822192"/>
            <a:ext cx="1463040" cy="475488"/>
          </a:xfrm>
          <a:prstGeom prst="rect">
            <a:avLst/>
          </a:prstGeom>
          <a:solidFill>
            <a:srgbClr val="FF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29184" y="3913632"/>
            <a:ext cx="1389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F6000"/>
                </a:solidFill>
                <a:latin typeface="Microsoft JhengHei"/>
              </a:rPr>
              <a:t>平均（廠A-C）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737360" y="3822192"/>
            <a:ext cx="658368" cy="475488"/>
          </a:xfrm>
          <a:prstGeom prst="rect">
            <a:avLst/>
          </a:prstGeom>
          <a:solidFill>
            <a:srgbClr val="BDD7EE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737360" y="3913632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D7D31"/>
                </a:solidFill>
                <a:latin typeface="Microsoft JhengHei"/>
              </a:rPr>
              <a:t>–.––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395728" y="3822192"/>
            <a:ext cx="658368" cy="475488"/>
          </a:xfrm>
          <a:prstGeom prst="rect">
            <a:avLst/>
          </a:prstGeom>
          <a:solidFill>
            <a:srgbClr val="BDD7EE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395728" y="3913632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D7D31"/>
                </a:solidFill>
                <a:latin typeface="Microsoft JhengHei"/>
              </a:rPr>
              <a:t>–.––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054096" y="3822192"/>
            <a:ext cx="658368" cy="475488"/>
          </a:xfrm>
          <a:prstGeom prst="rect">
            <a:avLst/>
          </a:prstGeom>
          <a:solidFill>
            <a:srgbClr val="BDD7EE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054096" y="3913632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D7D31"/>
                </a:solidFill>
                <a:latin typeface="Microsoft JhengHei"/>
              </a:rPr>
              <a:t>–.––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712464" y="3822192"/>
            <a:ext cx="658368" cy="475488"/>
          </a:xfrm>
          <a:prstGeom prst="rect">
            <a:avLst/>
          </a:prstGeom>
          <a:solidFill>
            <a:srgbClr val="BDD7EE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712464" y="3913632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D7D31"/>
                </a:solidFill>
                <a:latin typeface="Microsoft JhengHei"/>
              </a:rPr>
              <a:t>–.––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370832" y="3822192"/>
            <a:ext cx="658368" cy="475488"/>
          </a:xfrm>
          <a:prstGeom prst="rect">
            <a:avLst/>
          </a:prstGeom>
          <a:solidFill>
            <a:srgbClr val="FCE4D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370832" y="3913632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D7D31"/>
                </a:solidFill>
                <a:latin typeface="Microsoft JhengHei"/>
              </a:rPr>
              <a:t>–.––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029200" y="3822192"/>
            <a:ext cx="658368" cy="475488"/>
          </a:xfrm>
          <a:prstGeom prst="rect">
            <a:avLst/>
          </a:prstGeom>
          <a:solidFill>
            <a:srgbClr val="FCE4D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5029200" y="3913632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D7D31"/>
                </a:solidFill>
                <a:latin typeface="Microsoft JhengHei"/>
              </a:rPr>
              <a:t>–.––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687568" y="3822192"/>
            <a:ext cx="658368" cy="475488"/>
          </a:xfrm>
          <a:prstGeom prst="rect">
            <a:avLst/>
          </a:prstGeom>
          <a:solidFill>
            <a:srgbClr val="FCE4D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687568" y="3913632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D7D31"/>
                </a:solidFill>
                <a:latin typeface="Microsoft JhengHei"/>
              </a:rPr>
              <a:t>–.––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345936" y="3822192"/>
            <a:ext cx="658368" cy="475488"/>
          </a:xfrm>
          <a:prstGeom prst="rect">
            <a:avLst/>
          </a:prstGeom>
          <a:solidFill>
            <a:srgbClr val="FCE4D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345936" y="3913632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D7D31"/>
                </a:solidFill>
                <a:latin typeface="Microsoft JhengHei"/>
              </a:rPr>
              <a:t>–.––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004304" y="3822192"/>
            <a:ext cx="658368" cy="475488"/>
          </a:xfrm>
          <a:prstGeom prst="rect">
            <a:avLst/>
          </a:prstGeom>
          <a:solidFill>
            <a:srgbClr val="FFF5C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004304" y="3913632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06000"/>
                </a:solidFill>
                <a:latin typeface="Microsoft JhengHei"/>
              </a:rPr>
              <a:t>±.––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74320" y="5742432"/>
            <a:ext cx="3657600" cy="822960"/>
          </a:xfrm>
          <a:prstGeom prst="rect">
            <a:avLst/>
          </a:prstGeom>
          <a:solidFill>
            <a:srgbClr val="D6DCE4"/>
          </a:solidFill>
          <a:ln w="19050">
            <a:solidFill>
              <a:srgbClr val="70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365760" y="587959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708096"/>
                </a:solidFill>
                <a:latin typeface="Microsoft JhengHei"/>
              </a:rPr>
              <a:t>📷 廠區A 樣本
（GT + 兩模型疊圖）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160520" y="5742432"/>
            <a:ext cx="3657600" cy="822960"/>
          </a:xfrm>
          <a:prstGeom prst="rect">
            <a:avLst/>
          </a:prstGeom>
          <a:solidFill>
            <a:srgbClr val="D6DCE4"/>
          </a:solidFill>
          <a:ln w="19050">
            <a:solidFill>
              <a:srgbClr val="70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4251960" y="587959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708096"/>
                </a:solidFill>
                <a:latin typeface="Microsoft JhengHei"/>
              </a:rPr>
              <a:t>📷 廠區B 樣本
（GT + 兩模型疊圖）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046720" y="5742432"/>
            <a:ext cx="3657600" cy="822960"/>
          </a:xfrm>
          <a:prstGeom prst="rect">
            <a:avLst/>
          </a:prstGeom>
          <a:solidFill>
            <a:srgbClr val="D6DCE4"/>
          </a:solidFill>
          <a:ln w="19050">
            <a:solidFill>
              <a:srgbClr val="70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8138160" y="587959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708096"/>
                </a:solidFill>
                <a:latin typeface="Microsoft JhengHei"/>
              </a:rPr>
              <a:t>📷 廠區C 樣本
（GT + 兩模型疊圖）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</a:rPr>
              <a:t>T4  泛化衰退瀑布式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0"/>
                </a:solidFill>
                <a:latin typeface="Microsoft JhengHei"/>
              </a:rPr>
              <a:t>訓練域（GL廠）→ 測試域（其他廠區）— mAP@0.5 衰退可視化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20256"/>
            <a:ext cx="11612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Microsoft JhengHei"/>
              </a:rPr>
              <a:t>📌 橘色 –.–– = 填入實際數值；箭頭長度可依衰退幅度拖動調整；灰色方塊 = 置入截圖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Microsoft JhengHei"/>
              </a:rPr>
              <a:t>衰退率  =  (訓練域 mAP − 測試域 mAP) / 訓練域 mAP × 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987552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862D"/>
                </a:solidFill>
                <a:latin typeface="Microsoft JhengHei"/>
              </a:rPr>
              <a:t>衰退率越低  →  跨廠泛化性越強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5394960" cy="5138928"/>
          </a:xfrm>
          <a:prstGeom prst="rect">
            <a:avLst/>
          </a:prstGeom>
          <a:solidFill>
            <a:srgbClr val="BDD7EE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371600"/>
            <a:ext cx="5394960" cy="3657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38988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JhengHei"/>
              </a:rPr>
              <a:t>GroundingDINO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874519"/>
            <a:ext cx="4937760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9202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JhengHei"/>
              </a:rPr>
              <a:t>GL廠（訓練域）  mAP@0.5 =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1874519"/>
            <a:ext cx="137160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19202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D7D31"/>
                </a:solidFill>
                <a:latin typeface="Microsoft JhengHei"/>
              </a:rPr>
              <a:t>–.–––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5420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  <a:latin typeface="Microsoft JhengHei"/>
              </a:rPr>
              <a:t>↓  廠區 A  衰退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0" y="2542032"/>
            <a:ext cx="1188720" cy="347472"/>
          </a:xfrm>
          <a:prstGeom prst="rect">
            <a:avLst/>
          </a:prstGeom>
          <a:solidFill>
            <a:srgbClr val="FFFFFF"/>
          </a:solidFill>
          <a:ln w="152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68880" y="257860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00000"/>
                </a:solidFill>
                <a:latin typeface="Microsoft JhengHei"/>
              </a:rPr>
              <a:t>−.––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254203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Microsoft JhengHei"/>
              </a:rPr>
              <a:t>廠區 A mAP =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2542032"/>
            <a:ext cx="777240" cy="347472"/>
          </a:xfrm>
          <a:prstGeom prst="rect">
            <a:avLst/>
          </a:prstGeom>
          <a:solidFill>
            <a:srgbClr val="BDD7EE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257860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D7D31"/>
                </a:solidFill>
                <a:latin typeface="Microsoft JhengHei"/>
              </a:rPr>
              <a:t>–.––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4107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  <a:latin typeface="Microsoft JhengHei"/>
              </a:rPr>
              <a:t>↓  廠區 B  衰退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8880" y="3410712"/>
            <a:ext cx="1188720" cy="347472"/>
          </a:xfrm>
          <a:prstGeom prst="rect">
            <a:avLst/>
          </a:prstGeom>
          <a:solidFill>
            <a:srgbClr val="FFFFFF"/>
          </a:solidFill>
          <a:ln w="152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68880" y="344728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00000"/>
                </a:solidFill>
                <a:latin typeface="Microsoft JhengHei"/>
              </a:rPr>
              <a:t>−.––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341071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Microsoft JhengHei"/>
              </a:rPr>
              <a:t>廠區 B mAP =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0" y="3410712"/>
            <a:ext cx="777240" cy="347472"/>
          </a:xfrm>
          <a:prstGeom prst="rect">
            <a:avLst/>
          </a:prstGeom>
          <a:solidFill>
            <a:srgbClr val="BDD7EE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344728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D7D31"/>
                </a:solidFill>
                <a:latin typeface="Microsoft JhengHei"/>
              </a:rPr>
              <a:t>–.––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2793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  <a:latin typeface="Microsoft JhengHei"/>
              </a:rPr>
              <a:t>↓  廠區 C  衰退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68880" y="4279392"/>
            <a:ext cx="1188720" cy="347472"/>
          </a:xfrm>
          <a:prstGeom prst="rect">
            <a:avLst/>
          </a:prstGeom>
          <a:solidFill>
            <a:srgbClr val="FFFFFF"/>
          </a:solidFill>
          <a:ln w="152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68880" y="43159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00000"/>
                </a:solidFill>
                <a:latin typeface="Microsoft JhengHei"/>
              </a:rPr>
              <a:t>−.–– 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94760" y="427939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Microsoft JhengHei"/>
              </a:rPr>
              <a:t>廠區 C mAP =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4880" y="4279392"/>
            <a:ext cx="777240" cy="347472"/>
          </a:xfrm>
          <a:prstGeom prst="rect">
            <a:avLst/>
          </a:prstGeom>
          <a:solidFill>
            <a:srgbClr val="BDD7EE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0" y="431596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D7D31"/>
                </a:solidFill>
                <a:latin typeface="Microsoft JhengHei"/>
              </a:rPr>
              <a:t>–.––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5166360"/>
            <a:ext cx="4937760" cy="38404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519379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JhengHei"/>
              </a:rPr>
              <a:t>平均衰退率（廠A-C）：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91840" y="5166360"/>
            <a:ext cx="1371600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0" y="5202936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00000"/>
                </a:solidFill>
                <a:latin typeface="Microsoft JhengHei"/>
              </a:rPr>
              <a:t>−.– 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72200" y="1371600"/>
            <a:ext cx="5394960" cy="5138928"/>
          </a:xfrm>
          <a:prstGeom prst="rect">
            <a:avLst/>
          </a:prstGeom>
          <a:solidFill>
            <a:srgbClr val="FCE4D6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72200" y="1371600"/>
            <a:ext cx="5394960" cy="3657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138988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JhengHei"/>
              </a:rPr>
              <a:t>YOLO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1874519"/>
            <a:ext cx="4937760" cy="5029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19202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JhengHei"/>
              </a:rPr>
              <a:t>GL廠（訓練域）  mAP@0.5 =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64040" y="1874519"/>
            <a:ext cx="137160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64040" y="19202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D7D31"/>
                </a:solidFill>
                <a:latin typeface="Microsoft JhengHei"/>
              </a:rPr>
              <a:t>–.–––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25420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D7D31"/>
                </a:solidFill>
                <a:latin typeface="Microsoft JhengHei"/>
              </a:rPr>
              <a:t>↓  廠區 A  衰退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66760" y="2542032"/>
            <a:ext cx="1188720" cy="347472"/>
          </a:xfrm>
          <a:prstGeom prst="rect">
            <a:avLst/>
          </a:prstGeom>
          <a:solidFill>
            <a:srgbClr val="FFFFFF"/>
          </a:solidFill>
          <a:ln w="152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66760" y="257860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00000"/>
                </a:solidFill>
                <a:latin typeface="Microsoft JhengHei"/>
              </a:rPr>
              <a:t>−.–– 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92640" y="254203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Microsoft JhengHei"/>
              </a:rPr>
              <a:t>廠區 A mAP =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652760" y="2542032"/>
            <a:ext cx="777240" cy="347472"/>
          </a:xfrm>
          <a:prstGeom prst="rect">
            <a:avLst/>
          </a:prstGeom>
          <a:solidFill>
            <a:srgbClr val="FCE4D6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652760" y="257860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D7D31"/>
                </a:solidFill>
                <a:latin typeface="Microsoft JhengHei"/>
              </a:rPr>
              <a:t>–.––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34107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D7D31"/>
                </a:solidFill>
                <a:latin typeface="Microsoft JhengHei"/>
              </a:rPr>
              <a:t>↓  廠區 B  衰退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66760" y="3410712"/>
            <a:ext cx="1188720" cy="347472"/>
          </a:xfrm>
          <a:prstGeom prst="rect">
            <a:avLst/>
          </a:prstGeom>
          <a:solidFill>
            <a:srgbClr val="FFFFFF"/>
          </a:solidFill>
          <a:ln w="152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66760" y="344728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00000"/>
                </a:solidFill>
                <a:latin typeface="Microsoft JhengHei"/>
              </a:rPr>
              <a:t>−.–– 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92640" y="341071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Microsoft JhengHei"/>
              </a:rPr>
              <a:t>廠區 B mAP =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652760" y="3410712"/>
            <a:ext cx="777240" cy="347472"/>
          </a:xfrm>
          <a:prstGeom prst="rect">
            <a:avLst/>
          </a:prstGeom>
          <a:solidFill>
            <a:srgbClr val="FCE4D6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652760" y="344728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D7D31"/>
                </a:solidFill>
                <a:latin typeface="Microsoft JhengHei"/>
              </a:rPr>
              <a:t>–.––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2240" y="42793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D7D31"/>
                </a:solidFill>
                <a:latin typeface="Microsoft JhengHei"/>
              </a:rPr>
              <a:t>↓  廠區 C  衰退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66760" y="4279392"/>
            <a:ext cx="1188720" cy="347472"/>
          </a:xfrm>
          <a:prstGeom prst="rect">
            <a:avLst/>
          </a:prstGeom>
          <a:solidFill>
            <a:srgbClr val="FFFFFF"/>
          </a:solidFill>
          <a:ln w="152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66760" y="43159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00000"/>
                </a:solidFill>
                <a:latin typeface="Microsoft JhengHei"/>
              </a:rPr>
              <a:t>−.–– 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92640" y="427939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Microsoft JhengHei"/>
              </a:rPr>
              <a:t>廠區 C mAP =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652760" y="4279392"/>
            <a:ext cx="777240" cy="347472"/>
          </a:xfrm>
          <a:prstGeom prst="rect">
            <a:avLst/>
          </a:prstGeom>
          <a:solidFill>
            <a:srgbClr val="FCE4D6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652760" y="431596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D7D31"/>
                </a:solidFill>
                <a:latin typeface="Microsoft JhengHei"/>
              </a:rPr>
              <a:t>–.––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00800" y="5166360"/>
            <a:ext cx="4937760" cy="38404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92240" y="519379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JhengHei"/>
              </a:rPr>
              <a:t>平均衰退率（廠A-C）：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189720" y="5166360"/>
            <a:ext cx="1371600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189720" y="5202936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00000"/>
                </a:solidFill>
                <a:latin typeface="Microsoft JhengHei"/>
              </a:rPr>
              <a:t>−.– 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852160" y="2606040"/>
            <a:ext cx="256032" cy="32918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559552" y="3977639"/>
            <a:ext cx="1078992" cy="38404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559552" y="3995928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</a:rPr>
              <a:t>vs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</a:rPr>
              <a:t>T5  精簡執行摘要式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0"/>
                </a:solidFill>
                <a:latin typeface="Microsoft JhengHei"/>
              </a:rPr>
              <a:t>同工站跨廠區泛化性比較 — 一頁概覽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20256"/>
            <a:ext cx="11612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Microsoft JhengHei"/>
              </a:rPr>
              <a:t>📌 橘色 –.–– = 填入實際數值；[勝/敗] 標籤 = 根據比較結果手動更改顏色；灰色方塊 = 置入代表性截圖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960120"/>
            <a:ext cx="1152144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  <a:latin typeface="Microsoft JhengHei"/>
              </a:rPr>
              <a:t>工站：[ 填入工站代號 ]   |   訓練域：GL廠   |   測試域：廠區A、B、C（模型均未見過）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188720" cy="13258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78308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GroundingDINO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0" y="1417320"/>
            <a:ext cx="1463040" cy="1325880"/>
          </a:xfrm>
          <a:prstGeom prst="rect">
            <a:avLst/>
          </a:prstGeom>
          <a:solidFill>
            <a:srgbClr val="BDD7EE"/>
          </a:solidFill>
          <a:ln w="1016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19072" y="1490472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F4E79"/>
                </a:solidFill>
                <a:latin typeface="Microsoft JhengHei"/>
              </a:rPr>
              <a:t>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764792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D7D31"/>
                </a:solidFill>
                <a:latin typeface="Microsoft JhengHei"/>
              </a:rPr>
              <a:t>–.–––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37360" y="2423160"/>
            <a:ext cx="1280160" cy="2560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37360" y="2441448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Microsoft JhengHei"/>
              </a:rPr>
              <a:t>Δ = −.–– 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54680" y="1417320"/>
            <a:ext cx="1463040" cy="1325880"/>
          </a:xfrm>
          <a:prstGeom prst="rect">
            <a:avLst/>
          </a:prstGeom>
          <a:solidFill>
            <a:srgbClr val="BDD7EE"/>
          </a:solidFill>
          <a:ln w="1016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27832" y="1490472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F4E79"/>
                </a:solidFill>
                <a:latin typeface="Microsoft JhengHei"/>
              </a:rPr>
              <a:t>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1764792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D7D31"/>
                </a:solidFill>
                <a:latin typeface="Microsoft JhengHei"/>
              </a:rPr>
              <a:t>–.–––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6120" y="2423160"/>
            <a:ext cx="1280160" cy="2560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6120" y="2441448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Microsoft JhengHei"/>
              </a:rPr>
              <a:t>Δ = −.–– 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1417320"/>
            <a:ext cx="1463040" cy="1325880"/>
          </a:xfrm>
          <a:prstGeom prst="rect">
            <a:avLst/>
          </a:prstGeom>
          <a:solidFill>
            <a:srgbClr val="BDD7EE"/>
          </a:solidFill>
          <a:ln w="1016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36592" y="1490472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F4E79"/>
                </a:solidFill>
                <a:latin typeface="Microsoft JhengHei"/>
              </a:rPr>
              <a:t>F1-Score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1764792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D7D31"/>
                </a:solidFill>
                <a:latin typeface="Microsoft JhengHei"/>
              </a:rPr>
              <a:t>–.–––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0" y="2423160"/>
            <a:ext cx="1280160" cy="2560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2441448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Microsoft JhengHei"/>
              </a:rPr>
              <a:t>Δ = −.–– 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1417320"/>
            <a:ext cx="1463040" cy="1325880"/>
          </a:xfrm>
          <a:prstGeom prst="rect">
            <a:avLst/>
          </a:prstGeom>
          <a:solidFill>
            <a:srgbClr val="BDD7EE"/>
          </a:solidFill>
          <a:ln w="1016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45352" y="1490472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F4E79"/>
                </a:solidFill>
                <a:latin typeface="Microsoft JhengHei"/>
              </a:rPr>
              <a:t>mAP@0.5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1764792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D7D31"/>
                </a:solidFill>
                <a:latin typeface="Microsoft JhengHei"/>
              </a:rPr>
              <a:t>–.–––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2423160"/>
            <a:ext cx="1280160" cy="2560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2441448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Microsoft JhengHei"/>
              </a:rPr>
              <a:t>Δ = −.–– 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926080"/>
            <a:ext cx="1188720" cy="13258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329184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YOLO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45920" y="2926080"/>
            <a:ext cx="1463040" cy="1325880"/>
          </a:xfrm>
          <a:prstGeom prst="rect">
            <a:avLst/>
          </a:prstGeom>
          <a:solidFill>
            <a:srgbClr val="FCE4D6"/>
          </a:solidFill>
          <a:ln w="1016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19072" y="2999232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ED7D31"/>
                </a:solidFill>
                <a:latin typeface="Microsoft JhengHei"/>
              </a:rPr>
              <a:t>Precision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91640" y="3273552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D7D31"/>
                </a:solidFill>
                <a:latin typeface="Microsoft JhengHei"/>
              </a:rPr>
              <a:t>–.–––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37360" y="3931920"/>
            <a:ext cx="1280160" cy="25603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737360" y="3950208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Microsoft JhengHei"/>
              </a:rPr>
              <a:t>Δ = −.–– 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54680" y="2926080"/>
            <a:ext cx="1463040" cy="1325880"/>
          </a:xfrm>
          <a:prstGeom prst="rect">
            <a:avLst/>
          </a:prstGeom>
          <a:solidFill>
            <a:srgbClr val="FCE4D6"/>
          </a:solidFill>
          <a:ln w="1016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27832" y="2999232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ED7D31"/>
                </a:solidFill>
                <a:latin typeface="Microsoft JhengHei"/>
              </a:rPr>
              <a:t>Recall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0" y="3273552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D7D31"/>
                </a:solidFill>
                <a:latin typeface="Microsoft JhengHei"/>
              </a:rPr>
              <a:t>–.–––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46120" y="3931920"/>
            <a:ext cx="1280160" cy="25603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46120" y="3950208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Microsoft JhengHei"/>
              </a:rPr>
              <a:t>Δ = −.–– 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63440" y="2926080"/>
            <a:ext cx="1463040" cy="1325880"/>
          </a:xfrm>
          <a:prstGeom prst="rect">
            <a:avLst/>
          </a:prstGeom>
          <a:solidFill>
            <a:srgbClr val="FCE4D6"/>
          </a:solidFill>
          <a:ln w="1016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36592" y="2999232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ED7D31"/>
                </a:solidFill>
                <a:latin typeface="Microsoft JhengHei"/>
              </a:rPr>
              <a:t>F1-Score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09160" y="3273552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D7D31"/>
                </a:solidFill>
                <a:latin typeface="Microsoft JhengHei"/>
              </a:rPr>
              <a:t>–.–––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54880" y="3931920"/>
            <a:ext cx="1280160" cy="25603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54880" y="3950208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Microsoft JhengHei"/>
              </a:rPr>
              <a:t>Δ = −.–– 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72200" y="2926080"/>
            <a:ext cx="1463040" cy="1325880"/>
          </a:xfrm>
          <a:prstGeom prst="rect">
            <a:avLst/>
          </a:prstGeom>
          <a:solidFill>
            <a:srgbClr val="FCE4D6"/>
          </a:solidFill>
          <a:ln w="1016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45352" y="2999232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ED7D31"/>
                </a:solidFill>
                <a:latin typeface="Microsoft JhengHei"/>
              </a:rPr>
              <a:t>mAP@0.5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3273552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D7D31"/>
                </a:solidFill>
                <a:latin typeface="Microsoft JhengHei"/>
              </a:rPr>
              <a:t>–.–––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63640" y="3931920"/>
            <a:ext cx="1280160" cy="25603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63640" y="3950208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Microsoft JhengHei"/>
              </a:rPr>
              <a:t>Δ = −.–– 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15200" y="1417320"/>
            <a:ext cx="4572000" cy="2834640"/>
          </a:xfrm>
          <a:prstGeom prst="rect">
            <a:avLst/>
          </a:prstGeom>
          <a:solidFill>
            <a:srgbClr val="F2F2F2"/>
          </a:solidFill>
          <a:ln w="63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98079" y="150876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95959"/>
                </a:solidFill>
                <a:latin typeface="Microsoft JhengHei"/>
              </a:rPr>
              <a:t>綜合判決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98079" y="196596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95959"/>
                </a:solidFill>
                <a:latin typeface="Microsoft JhengHei"/>
              </a:rPr>
              <a:t>泛化衰退率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64040" y="1965960"/>
            <a:ext cx="224028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491472" y="2020824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ED7D31"/>
                </a:solidFill>
                <a:latin typeface="Microsoft JhengHei"/>
              </a:rPr>
              <a:t>GroundingDINO  /  YOLO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98079" y="244144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95959"/>
                </a:solidFill>
                <a:latin typeface="Microsoft JhengHei"/>
              </a:rPr>
              <a:t>召回率穩定性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464040" y="2441448"/>
            <a:ext cx="224028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491472" y="2496312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ED7D31"/>
                </a:solidFill>
                <a:latin typeface="Microsoft JhengHei"/>
              </a:rPr>
              <a:t>GroundingDINO  /  YOLO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98079" y="291693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95959"/>
                </a:solidFill>
                <a:latin typeface="Microsoft JhengHei"/>
              </a:rPr>
              <a:t>精確率穩定性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464040" y="2916936"/>
            <a:ext cx="224028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491472" y="2971800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ED7D31"/>
                </a:solidFill>
                <a:latin typeface="Microsoft JhengHei"/>
              </a:rPr>
              <a:t>GroundingDINO  /  YOLO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98079" y="339242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95959"/>
                </a:solidFill>
                <a:latin typeface="Microsoft JhengHei"/>
              </a:rPr>
              <a:t>推薦標注方案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464040" y="3392424"/>
            <a:ext cx="224028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491472" y="3447288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ED7D31"/>
                </a:solidFill>
                <a:latin typeface="Microsoft JhengHei"/>
              </a:rPr>
              <a:t>GroundingDINO  /  YOLO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0040" y="4389120"/>
            <a:ext cx="5486400" cy="2103120"/>
          </a:xfrm>
          <a:prstGeom prst="rect">
            <a:avLst/>
          </a:prstGeom>
          <a:solidFill>
            <a:srgbClr val="D6DCE4"/>
          </a:solidFill>
          <a:ln w="19050">
            <a:solidFill>
              <a:srgbClr val="70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11480" y="51663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708096"/>
                </a:solidFill>
                <a:latin typeface="Microsoft JhengHei"/>
              </a:rPr>
              <a:t>📷  代表性截圖（廠區A）
GroundingDINO + YOLO 偵測結果對比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035040" y="4389120"/>
            <a:ext cx="5577840" cy="2103120"/>
          </a:xfrm>
          <a:prstGeom prst="rect">
            <a:avLst/>
          </a:prstGeom>
          <a:solidFill>
            <a:srgbClr val="D6DCE4"/>
          </a:solidFill>
          <a:ln w="19050">
            <a:solidFill>
              <a:srgbClr val="70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126480" y="516636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708096"/>
                </a:solidFill>
                <a:latin typeface="Microsoft JhengHei"/>
              </a:rPr>
              <a:t>📷  代表性截圖（廠區B / C）
同工站不同廠區的圖像差異示意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