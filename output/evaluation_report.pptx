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JhengHei"/>
              </a:rPr>
              <a:t>GroundingDINO  vs  YOLO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DD7EE"/>
                </a:solidFill>
                <a:latin typeface="Microsoft JhengHei"/>
              </a:rPr>
              <a:t>工業生產場景　模型泛化性評估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82296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  <a:latin typeface="Microsoft JhengHei"/>
              </a:rPr>
              <a:t>  1.  場景一  跨廠區泛化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679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  <a:latin typeface="Microsoft JhengHei"/>
              </a:rPr>
              <a:t>  2.  場景二  機台調整期間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0682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  <a:latin typeface="Microsoft JhengHei"/>
              </a:rPr>
              <a:t>  3.  場景三  數據增強測試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217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2E75B6"/>
                </a:solidFill>
                <a:latin typeface="Microsoft JhengHei"/>
              </a:rPr>
              <a:t>Generalization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研究背景與動機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Microsoft JhengHei"/>
              </a:rPr>
              <a:t>為什麼工業場景的模型泛化性尤其重要？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Microsoft JhengHei"/>
              </a:rPr>
              <a:t>2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109728" cy="1463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Microsoft JhengHei"/>
              </a:rPr>
              <a:t>跨廠區差異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7335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Microsoft JhengHei"/>
              </a:rPr>
              <a:t>同一工站部署在不同廠區時，
因設備批次、廠房光源、安裝角度不同，
影像品質可能有顯著差異。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34640"/>
            <a:ext cx="530352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834640"/>
            <a:ext cx="109728" cy="1463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Microsoft JhengHei"/>
              </a:rPr>
              <a:t>機台調整頻繁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7355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Microsoft JhengHei"/>
              </a:rPr>
              <a:t>工程人員在開發或調機階段
會改變攝影機曝光、焦距或角度，
導致訓練時與部署時的圖像分布不同。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434840"/>
            <a:ext cx="530352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434840"/>
            <a:ext cx="109728" cy="14630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Microsoft JhengHei"/>
              </a:rPr>
              <a:t>標注成本高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7375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Microsoft JhengHei"/>
              </a:rPr>
              <a:t>每次場景變化都需要重新標注，
人力成本昂貴，且容易造成
標注不一致的品質問題。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234440"/>
            <a:ext cx="5943600" cy="53035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Microsoft JhengHei"/>
              </a:rPr>
              <a:t>核心研究問題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92024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在訓練資料不包含目標廠區圖片的情況下，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7627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GroundingDINO 與 YOLO 的泛化能力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3230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各有多強？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6883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94436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•  哪個模型在未見過的場景中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0040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   更能維持標注精度？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45643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1246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•  多工站聯合訓練（GroundingDINO）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9684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   vs. 單工站特化訓練（YOLO），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22452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   誰的跨場景泛化性更好？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48056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73659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•  數據增強能彌補哪個模型的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99262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   哪些短板？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模型訓練資料設定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Microsoft JhengHei"/>
              </a:rPr>
              <a:t>YOLO 與 GroundingDINO 的訓練資料來源差異（GL 廠資料）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Microsoft JhengHei"/>
              </a:rPr>
              <a:t>3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39496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YOLO　（每工站獨立模型）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訓練來源：GL 廠  特定工站  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Microsoft JhengHei"/>
              </a:rPr>
              <a:t>模型數量：10 個工站 → 10 個獨立 YOLO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每個模型只見過該工站的圖片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87752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類別：固定於訓練時，不可動態新增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71216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Microsoft JhengHei"/>
              </a:rPr>
              <a:t>工站 A  →  YOLO_A  （只認識工站A的物件）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38144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Microsoft JhengHei"/>
              </a:rPr>
              <a:t>工站 B  →  YOLO_B  （只認識工站B的物件）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2160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   ...         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Microsoft JhengHei"/>
              </a:rPr>
              <a:t>工站 J  →  YOLO_J  （只認識工站J的物件）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035040"/>
            <a:ext cx="3108960" cy="34747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606247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❌ 未見其他廠區圖片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43000"/>
            <a:ext cx="5669280" cy="53035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14300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704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GroundingDINO　（單一通用模型）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73736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訓練來源：GL 廠  全部 10 個工站  資料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02082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模型數量：1 個統一模型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0428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見過全部工站的圖片（多樣性更高）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8775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類別：推論時由文字提示動態指定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5468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4E79"/>
                </a:solidFill>
                <a:latin typeface="Microsoft JhengHei"/>
              </a:rPr>
              <a:t>工站 A 資料 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38144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4E79"/>
                </a:solidFill>
                <a:latin typeface="Microsoft JhengHei"/>
              </a:rPr>
              <a:t>工站 B 資料 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21608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4E79"/>
                </a:solidFill>
                <a:latin typeface="Microsoft JhengHei"/>
              </a:rPr>
              <a:t>   ...      ├──→  GroundingDINO  (1 個模型)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0507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4E79"/>
                </a:solidFill>
                <a:latin typeface="Microsoft JhengHei"/>
              </a:rPr>
              <a:t>工站 J 資料 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885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7200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F4E79"/>
                </a:solidFill>
                <a:latin typeface="Microsoft JhengHei"/>
              </a:rPr>
              <a:t>推論時："screw . bolt . glove ."  →  偵測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6035040"/>
            <a:ext cx="3108960" cy="34747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606247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❌ 未見其他廠區圖片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6035040"/>
            <a:ext cx="2011680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47504" y="6062472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✓ 訓練多樣性更高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1234440"/>
            <a:ext cx="45720" cy="5212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3657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  <a:latin typeface="Microsoft JhengHei"/>
              </a:rPr>
              <a:t>vs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⚠  兩個模型共同點：均未見過其他廠區的同工站圖片  →  這正是本次評估的「未知測試集」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核心架構差異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Microsoft JhengHei"/>
              </a:rPr>
              <a:t>開放集（Open-vocabulary） vs 封閉集（Closed-set）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Microsoft JhengHei"/>
              </a:rPr>
              <a:t>4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43000"/>
          <a:ext cx="11338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389120"/>
                <a:gridCol w="438912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比較維度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GroundingDINO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YOLO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偵測類型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開放集（Open-vocabulary）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封閉集（Closed-set）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類別定義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推論時文字描述，隨時可改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訓練時固定，不可動態新增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零樣本能力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強（未訓練類別也能偵測）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無（未訓練類別 = 看不到）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訓練資料需求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不需要（可直接零樣本使用）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需要標注資料才能訓練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新增類別成本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改文字提示，零成本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重新收集、標注、訓練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推論速度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慢（Swin-T + BERT 雙編碼器）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快（10~100x 快於 GroundingDINO）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模型大小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大（~172MB~800MB+）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小（YOLOv8n ~6MB）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邊緣設備部署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困難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容易（Jetson、工控機）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多工站共用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單一模型，文字切換工站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每工站需一個獨立模型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2910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Microsoft JhengHei"/>
              </a:rPr>
              <a:t>本評估聚焦於：在相同訓練資料量的公平前提下，多樣性（多工站）vs. 專一性（單工站）誰的跨場景泛化性更佳？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評估場景一：跨廠區泛化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Microsoft JhengHei"/>
              </a:rPr>
              <a:t>同工站，不同廠區 — 兩個模型都未見過目標廠區圖片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Microsoft JhengHei"/>
              </a:rPr>
              <a:t>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182880"/>
            <a:ext cx="1188720" cy="2926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44784" y="21031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SCENARIO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場景描述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Microsoft JhengHei"/>
              </a:rPr>
              <a:t>同一工站（相同類別、相似作業流程）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2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Microsoft JhengHei"/>
              </a:rPr>
              <a:t>部署在不同廠區，因環境差異導致：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4884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Microsoft Jheng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Microsoft JhengHei"/>
              </a:rPr>
              <a:t>  •  曝光不同（廠房燈光強弱）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9748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Microsoft JhengHei"/>
              </a:rPr>
              <a:t>  •  拍攝角度略有偏差（安裝誤差）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7180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Microsoft JhengHei"/>
              </a:rPr>
              <a:t>  •  背景色調、材質紋理有差異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4612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Microsoft JhengHei"/>
              </a:rPr>
              <a:t>  •  相機型號或鏡頭焦段不同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03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訓練 / 測試 資料分割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4114800"/>
          <a:ext cx="512064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訓練集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測試集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YOLO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GL 廠 特定工站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其他廠區 同工站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GroundingDINO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GL 廠 全部工站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其他廠區 同工站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943600" y="1143000"/>
            <a:ext cx="5943600" cy="5349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預期挑戰與假設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691640"/>
            <a:ext cx="55778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691640"/>
            <a:ext cx="109728" cy="1280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764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  <a:latin typeface="Microsoft JhengHei"/>
              </a:rPr>
              <a:t>GroundingDINO 預期較佳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093976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訓練資料包含 10 個工站的多樣圖像，
見過更廣泛的光源與角度分布，
泛化性理論上更強。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108960"/>
            <a:ext cx="55778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3108960"/>
            <a:ext cx="109728" cy="1280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1821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Microsoft JhengHei"/>
              </a:rPr>
              <a:t>YOLO 預期較弱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511296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每個 YOLO 只見過 GL 廠特定工站，
對同工站在不同廠區的外觀差異
沒有直接訓練訊號。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526280"/>
            <a:ext cx="55778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4526280"/>
            <a:ext cx="109728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599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Microsoft JhengHei"/>
              </a:rPr>
              <a:t>關鍵觀測指標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928616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mAP 下降幅度（相對 GL 廠內測試）
→ 下降越少代表泛化越強。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評估場景二：機台調整期間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Microsoft JhengHei"/>
              </a:rPr>
              <a:t>工程人員調機導致成像參數改變 — 模擬實際開發生命週期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Microsoft JhengHei"/>
              </a:rPr>
              <a:t>6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182880"/>
            <a:ext cx="118872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44784" y="21031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SCENARIO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典型機台調整類型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Microsoft JhengHei"/>
              </a:rPr>
              <a:t>曝光調整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99339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因生產環境燈光改變或
感測器老化，調整相機 EV 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645920"/>
            <a:ext cx="73152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Microsoft JhengHei"/>
              </a:rPr>
              <a:t>角度微調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99339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重新固定攝影機支架後
產生的角度偏移（通常 &lt; 5°）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88920"/>
            <a:ext cx="7315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834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AD47"/>
                </a:solidFill>
                <a:latin typeface="Microsoft JhengHei"/>
              </a:rPr>
              <a:t>焦距變化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313639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更換鏡頭或調整焦段，
導致物件大小比例改變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8892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788920"/>
            <a:ext cx="731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834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Microsoft JhengHei"/>
              </a:rPr>
              <a:t>白平衡漂移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13639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不同時間段的色溫差異
造成影像色調偏移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1645920"/>
            <a:ext cx="2651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645920"/>
            <a:ext cx="2651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2880360"/>
            <a:ext cx="2651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880360"/>
            <a:ext cx="2651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164592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164592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1719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Microsoft JhengHei"/>
              </a:rPr>
              <a:t>曝光調整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2048256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因生產環境燈光改變或
感測器老化，調整相機 EV 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164592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46120" y="1645920"/>
            <a:ext cx="73152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1719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Microsoft JhengHei"/>
              </a:rPr>
              <a:t>角度微調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2048256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重新固定攝影機支架後
產生的角度偏移（通常 &lt; 5°）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8803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2880360"/>
            <a:ext cx="7315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535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AD47"/>
                </a:solidFill>
                <a:latin typeface="Microsoft JhengHei"/>
              </a:rPr>
              <a:t>焦距變化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282696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更換鏡頭或調整焦段，
導致物件大小比例改變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880360"/>
            <a:ext cx="26517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46120" y="2880360"/>
            <a:ext cx="731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29535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Microsoft JhengHei"/>
              </a:rPr>
              <a:t>白平衡漂移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282696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不同時間段的色溫差異
造成影像色調偏移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1143000"/>
            <a:ext cx="5669280" cy="5349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評估設計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1691640"/>
            <a:ext cx="5303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1764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Microsoft JhengHei"/>
              </a:rPr>
              <a:t>① 基準測試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用 GL 廠原始圖片測試兩個模型
取得 baseline mAP 作為參考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2788920"/>
            <a:ext cx="5303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28620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Microsoft JhengHei"/>
              </a:rPr>
              <a:t>② 調機後測試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用調機後的圖片（曝光 ±2EV、
角度 ±5°）重新測試兩個模型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886200"/>
            <a:ext cx="5303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9593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Microsoft JhengHei"/>
              </a:rPr>
              <a:t>③ 計算衰退率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衰退率 = (baseline − post) / baseline
→ 值越小代表模型越穩健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983480"/>
            <a:ext cx="5303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5056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Microsoft JhengHei"/>
              </a:rPr>
              <a:t>④ 分析原因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5394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哪種調整類型對哪個模型
影響最大？是否有規律可循？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160520"/>
            <a:ext cx="5577840" cy="5029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41879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4E79"/>
                </a:solidFill>
                <a:latin typeface="Microsoft JhengHei"/>
              </a:rPr>
              <a:t>此場景特殊性：模型在「開發期間」就必須穩定工作，
不能每次調機就需要重新訓練。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評估場景三：數據增強測試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Microsoft JhengHei"/>
              </a:rPr>
              <a:t>使用現有資料集進行增強 — 測試模型對圖像變化的魯棒性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Microsoft JhengHei"/>
              </a:rPr>
              <a:t>7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182880"/>
            <a:ext cx="1188720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44784" y="21031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SCENARIO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六種增強方式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0200"/>
            <a:ext cx="24688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65506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Microsoft JhengHei"/>
              </a:rPr>
              <a:t>旋轉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19842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±15° / ±30° / ±45°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1600200"/>
            <a:ext cx="24688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71800" y="1600200"/>
            <a:ext cx="73152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9816" y="165506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Microsoft JhengHei"/>
              </a:rPr>
              <a:t>平移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6" y="19842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水平 / 垂直  ±10%~20%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51760"/>
            <a:ext cx="24688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651760"/>
            <a:ext cx="73152" cy="868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270662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AD47"/>
                </a:solidFill>
                <a:latin typeface="Microsoft JhengHei"/>
              </a:rPr>
              <a:t>縮放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303580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0.7x ~ 1.3x（含裁切）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2651760"/>
            <a:ext cx="24688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2651760"/>
            <a:ext cx="73152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9816" y="270662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Microsoft JhengHei"/>
              </a:rPr>
              <a:t>對比度調整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9816" y="303580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±30%（Contrast）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03320"/>
            <a:ext cx="24688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03320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" y="375818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Microsoft JhengHei"/>
              </a:rPr>
              <a:t>亮度調整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40873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±20%（Brightness / EV）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3703320"/>
            <a:ext cx="24688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71800" y="3703320"/>
            <a:ext cx="73152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9816" y="3758184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Microsoft JhengHei"/>
              </a:rPr>
              <a:t>複合增強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9816" y="40873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旋轉 + 縮放 + 亮度 同時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754880"/>
            <a:ext cx="5486400" cy="9144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800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Microsoft JhengHei"/>
              </a:rPr>
              <a:t>此場景的評估目的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3892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以可控方式模擬場景一、二的圖像變化，
量化每種增強對兩個模型精度的影響程度。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143000"/>
            <a:ext cx="5669280" cy="5349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預期差異分析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69164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1764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Microsoft JhengHei"/>
              </a:rPr>
              <a:t>旋轉 / 平移 / 縮放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103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YOLO：在訓練時通常已加入這三類增強，
預期較為穩健。
GroundingDINO：預訓練多樣性高，但對
工業特定角度的旋轉仍可能下降。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20040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273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Microsoft JhengHei"/>
              </a:rPr>
              <a:t>曝光 / 亮度 / 對比度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611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GroundingDINO：預訓練資料包含大量
不同光線條件，預期較強。
YOLO：GL 廠資料光線條件相對固定，
對大幅光線變化可能較敏感。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70916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4782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Microsoft JhengHei"/>
              </a:rPr>
              <a:t>複合增強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最接近真實場景（機台調整 = 多種變化同時發生）。
兩個模型的衰退程度差距在此最為顯著。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實驗設計對照矩陣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Microsoft JhengHei"/>
              </a:rPr>
              <a:t>三個場景 × 兩個模型的完整評估框架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Microsoft JhengHei"/>
              </a:rPr>
              <a:t>8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170432"/>
          <a:ext cx="11338560" cy="339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  <a:gridCol w="3017520"/>
                <a:gridCol w="301752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評估維度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場景一  跨廠區泛化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場景二  機台調整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場景三  數據增強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測試資料來源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其他廠區同工站圖片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調機前後的同工站圖片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GL廠圖片 + 增強版本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兩模型是否見過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❌ 均未見過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❌ 均未見過調機後版本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⚠ 部分增強類型已見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YOLO 預期表現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中等（單廠資料有限）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隨調整類型不同而有差異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旋轉/縮放強，光線弱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GroundingDINO 預期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較佳（多工站多樣性）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光線變化強，角度變化中等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光線強，旋轉視情況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核心觀測指標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跨廠 mAP 下降幅度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調機前後 mAP 衰退率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各增強類型獨立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預期勝出模型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GroundingDINO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視調整類型而定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視增強類型而定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0040" y="6263640"/>
            <a:ext cx="11521440" cy="3200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29107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Microsoft JhengHei"/>
              </a:rPr>
              <a:t>公平性保證：三個場景的測試集對兩個模型均為完全未見過的資料，確保評估具有可比性。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評估指標定義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Microsoft JhengHei"/>
              </a:rPr>
              <a:t>量化標準：確保跨場景、跨模型的可比性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Microsoft JhengHei"/>
              </a:rPr>
              <a:t>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主要評估指標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548640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27632"/>
            <a:ext cx="9144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824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Microsoft JhengHei"/>
              </a:rPr>
              <a:t>mAP@0.5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7190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Microsoft JhengHei"/>
              </a:rPr>
              <a:t>平均精確率（Mean Average Precision）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848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IoU 閾值 0.5 下各類別 AP 的平均值，
核心比較指標。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548640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9144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980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mAP@0.5:0.95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346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Microsoft JhengHei"/>
              </a:rPr>
              <a:t>嚴格版 mAP（COCO 標準）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IoU 從 0.5 到 0.95 取平均，
反映模型的框定位精度。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58768"/>
            <a:ext cx="548640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858768"/>
            <a:ext cx="91440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136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Microsoft JhengHei"/>
              </a:rPr>
              <a:t>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9502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Microsoft JhengHei"/>
              </a:rPr>
              <a:t>精確率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預測為正的樣本中，真正為正的比例。
越高代表誤報越少。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74336"/>
            <a:ext cx="548640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974336"/>
            <a:ext cx="91440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Microsoft JhengHei"/>
              </a:rPr>
              <a:t>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06577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Microsoft JhengHei"/>
              </a:rPr>
              <a:t>召回率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3153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62626"/>
                </a:solidFill>
                <a:latin typeface="Microsoft JhengHei"/>
              </a:rPr>
              <a:t>所有真正為正的樣本中，被正確偵測的比例。
越高代表漏報越少。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43000"/>
            <a:ext cx="5669280" cy="53492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衍生泛化指標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691640"/>
            <a:ext cx="53035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764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Microsoft JhengHei"/>
              </a:rPr>
              <a:t>泛化衰退率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13055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onsolas"/>
              </a:rPr>
              <a:t>Δ mAP = mAP(in-domain) − mAP(out-domain)
值越小 → 泛化性越強
用於場景一、二的主要比較指標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264408"/>
            <a:ext cx="53035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337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Microsoft JhengHei"/>
              </a:rPr>
              <a:t>相對衰退率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703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onsolas"/>
              </a:rPr>
              <a:t>Δ% = Δ mAP / mAP(in-domain) × 100%
排除兩模型基準線差異，
更公平地比較泛化能力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837176"/>
            <a:ext cx="53035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10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Microsoft JhengHei"/>
              </a:rPr>
              <a:t>增強魯棒性指數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27608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onsolas"/>
              </a:rPr>
              <a:t>Robustness = mAP(augmented) / mAP(original)
值越接近 1.0 → 對該增強越穩健
用於場景三各增強類型比較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預期假設與研究價值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Microsoft JhengHei"/>
              </a:rPr>
              <a:t>基於模型架構與訓練資料差異的先驗推斷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Microsoft JhengHei"/>
              </a:rPr>
              <a:t>10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170432"/>
          <a:ext cx="118872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4114800"/>
                <a:gridCol w="36576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場景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假設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理由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驗證方式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場景一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跨廠區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GroundingDINO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泛化衰退率較低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訓練資料包含10個工站的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多樣光線/角度，分布更廣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Δ% 比較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（兩模型各自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vs 廠內測試）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場景二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機台調整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曝光類：GroundingDINO 較強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角度類：YOLO 有增強加持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GroundingDINO預訓練光線多樣；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YOLO 訓練時常加入幾何增強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分類型測試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各自的衰退率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場景三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數據增強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複合增強下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GroundingDINO 優勢最明顯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多工站訓練 ≈ 天然的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多樣化增強效果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Microsoft JhengHei"/>
                        </a:rPr>
                        <a:t>增強魯棒性指數</a:t>
                      </a:r>
                    </a:p>
                    <a:p>
                      <a:pPr algn="ctr"/>
                      <a:r>
                        <a:rPr sz="1100" b="0">
                          <a:latin typeface="Microsoft JhengHei"/>
                        </a:rPr>
                        <a:t>各類型比較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0040" y="4434840"/>
            <a:ext cx="11521440" cy="21488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4988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Microsoft JhengHei"/>
              </a:rPr>
              <a:t>研究價值與實際意義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560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✓  量化「多工站聯合訓練」vs「單工站特化訓練」的跨廠泛化差距，提供模型選型依據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✓  找出 YOLO 與 GroundingDINO 各自對哪種圖像變化最敏感，指導資料收集策略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50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✓  評估現有標注資料在不重新採集的情況下，能透過增強覆蓋多少現實場景變化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984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Microsoft JhengHei"/>
              </a:rPr>
              <a:t>✓  建立可重複使用的評估 pipeline，供後續新工站、新廠區上線時快速驗證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結論與下一步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Microsoft JhengHei"/>
              </a:rPr>
              <a:t>評估完成後的行動建議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Microsoft JhengHei"/>
              </a:rPr>
              <a:t>11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模型選用決策矩陣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00200"/>
          <a:ext cx="55778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6517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使用場景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建議模型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全新工站冷啟動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GroundingDINO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跨廠區泛化需求高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GroundingDINO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類別固定、速度優先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YOLO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部署到邊緣設備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YOLO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機台調整後快速適應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GroundingDINO（光線）</a:t>
                      </a:r>
                    </a:p>
                    <a:p>
                      <a:pPr algn="ctr"/>
                      <a:r>
                        <a:rPr sz="1200" b="0">
                          <a:latin typeface="Microsoft JhengHei"/>
                        </a:rPr>
                        <a:t>YOLO（角度）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多工站統一服務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JhengHei"/>
                        </a:rPr>
                        <a:t>GroundingDINO</a:t>
                      </a:r>
                    </a:p>
                  </a:txBody>
                  <a:tcPr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1143000"/>
            <a:ext cx="5669280" cy="5349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Microsoft JhengHei"/>
              </a:rPr>
              <a:t>下一步行動計畫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190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短期（立即可執行）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391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  •  用現有 GL 廠資料執行場景三（增強測試）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134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  •  評估兩個模型的增強魯棒性基準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877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  •  找出各自的弱點增強類型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971800"/>
            <a:ext cx="5303520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992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中期（收集新資料後）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192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  •  收集其他廠區同工站圖片作為測試集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935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  •  執行場景一（跨廠區泛化）評估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679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  •  根據結果調整訓練資料多樣性策略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251960"/>
            <a:ext cx="530352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79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長期（迭代優化）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5994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  •  建立持續評估 pipeline（CI/CD 式）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8737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  •  新工站 / 新廠區自動觸發泛化評估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1480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Microsoft JhengHei"/>
              </a:rPr>
              <a:t>  •  根據評估結果動態決定標注優先級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236208"/>
            <a:ext cx="11521440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Microsoft JhengHei"/>
              </a:rPr>
              <a:t>核心結論：GroundingDINO 是「泛化性更強的探索者」，YOLO 是「效率更高的執行者」— 兩者分工互補，缺一不可。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